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ist" panose="020B0604020202020204" charset="0"/>
      <p:regular r:id="rId13"/>
    </p:embeddedFont>
    <p:embeddedFont>
      <p:font typeface="Geist Bold" panose="020B0604020202020204" charset="0"/>
      <p:regular r:id="rId14"/>
    </p:embeddedFont>
    <p:embeddedFont>
      <p:font typeface="Nirmala UI" panose="020B0502040204020203" pitchFamily="34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98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134899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 Evolução da Tecnologia: Da sobrevivência ancestral à inteligência conectada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25170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Uma jornada pelo tempo — do fogo primitivo à inteligência artificial, da pedra lascada ao qubit quântico.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71277"/>
            <a:ext cx="6296860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10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Origens e Propósito: Do fogo às quatro grandes viradas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672010"/>
            <a:ext cx="6296860" cy="441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 tecnologia sempre foi uma resposta às necessidades humanas: a </a:t>
            </a: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pedra lascada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para agir, o </a:t>
            </a: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fogo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para gerar energia e a </a:t>
            </a: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linguagem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para transmitir informação. Dois grandes eixos guiam essa trajetória: </a:t>
            </a:r>
            <a:r>
              <a:rPr lang="en-US" sz="10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sobreviver e transformar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(agricultura e metais) e </a:t>
            </a:r>
            <a:r>
              <a:rPr lang="en-US" sz="10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calcular e conectar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(escrita suméria e imprensa).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252891"/>
            <a:ext cx="6296860" cy="345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50" b="1" kern="100" spc="-4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As 4 Grandes Viradas da Humanidade</a:t>
            </a:r>
            <a:endParaRPr lang="en-US" sz="2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29607"/>
            <a:ext cx="6296860" cy="7974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0263" y="2998688"/>
            <a:ext cx="19932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305488" y="2881511"/>
            <a:ext cx="55009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Revolução Industrial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05488" y="3153470"/>
            <a:ext cx="5500947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Máquinas térmicas a vapor, carvão e produção em larga escala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20393"/>
            <a:ext cx="6296860" cy="7974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263" y="3889474"/>
            <a:ext cx="19932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2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305488" y="3772297"/>
            <a:ext cx="55009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Era Digital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305488" y="4044255"/>
            <a:ext cx="5500947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transistor em 1947 (Bell Labs), chips, computadores, internet e IA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11179"/>
            <a:ext cx="6296860" cy="7974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0263" y="4780260"/>
            <a:ext cx="19932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3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305488" y="4663083"/>
            <a:ext cx="55009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Era Biológica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305488" y="4935041"/>
            <a:ext cx="5500947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DNA em 1953, Projeto Genoma Humano (2003) e edição com CRISPR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01965"/>
            <a:ext cx="6296860" cy="7974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0263" y="5671046"/>
            <a:ext cx="19932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4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305488" y="5553869"/>
            <a:ext cx="55009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Era da Exploração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305488" y="5825827"/>
            <a:ext cx="5500947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Sondas espaciais, satélites orbitais e robótica submarina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731" y="274895"/>
            <a:ext cx="7817647" cy="746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kern="100" spc="-4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Biotecnologia: Quando a tecnologia aprende com a vida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31" y="879568"/>
            <a:ext cx="5098735" cy="5098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1141" y="1038015"/>
            <a:ext cx="5959792" cy="1185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 biotecnologia usa o conhecimento biológico — genes, células e enzimas — para solucionar problemas de saúde, alimentação e indústria.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41140" y="2104581"/>
            <a:ext cx="3631459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-3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As 4 Cores da Biotecnologia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41140" y="2595373"/>
            <a:ext cx="5959792" cy="104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Saltos na medicina incluem a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terapia celular CAR-T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contra o câncer,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vacinas de mRNA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flexíveis, anticorpos monoclonais e medicina de precisão. O desafio ético central é garantir acesso justo a terapias caras pelo SUS — missão do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Programa Genomas Brasil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29382" y="3552032"/>
            <a:ext cx="2223114" cy="1091152"/>
          </a:xfrm>
          <a:prstGeom prst="roundRect">
            <a:avLst>
              <a:gd name="adj" fmla="val 731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691711" y="3827536"/>
            <a:ext cx="1498456" cy="29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3" dirty="0">
                <a:solidFill>
                  <a:srgbClr val="000000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🔴</a:t>
            </a:r>
            <a:r>
              <a:rPr lang="en-US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 Vermelha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49465" y="4193010"/>
            <a:ext cx="1248496" cy="22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Saúde humana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068231" y="3552032"/>
            <a:ext cx="2293275" cy="1091152"/>
          </a:xfrm>
          <a:prstGeom prst="roundRect">
            <a:avLst>
              <a:gd name="adj" fmla="val 731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627774" y="3837778"/>
            <a:ext cx="1175693" cy="2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3" dirty="0">
                <a:solidFill>
                  <a:srgbClr val="000000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⚪</a:t>
            </a:r>
            <a:r>
              <a:rPr lang="en-US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 Branca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915749" y="4171314"/>
            <a:ext cx="753757" cy="226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Indústria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34511" y="4889370"/>
            <a:ext cx="2217985" cy="1089061"/>
          </a:xfrm>
          <a:prstGeom prst="roundRect">
            <a:avLst>
              <a:gd name="adj" fmla="val 731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1"/>
          <p:cNvSpPr/>
          <p:nvPr/>
        </p:nvSpPr>
        <p:spPr>
          <a:xfrm>
            <a:off x="6849465" y="5195113"/>
            <a:ext cx="1107376" cy="27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3" dirty="0">
                <a:solidFill>
                  <a:srgbClr val="000000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🟢</a:t>
            </a:r>
            <a:r>
              <a:rPr lang="en-US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 Verde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07860" y="5514484"/>
            <a:ext cx="1066157" cy="20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Agronegócio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68231" y="4925555"/>
            <a:ext cx="2293275" cy="1089061"/>
          </a:xfrm>
          <a:prstGeom prst="roundRect">
            <a:avLst>
              <a:gd name="adj" fmla="val 731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750568" y="5216989"/>
            <a:ext cx="928600" cy="25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3" dirty="0">
                <a:solidFill>
                  <a:srgbClr val="000000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🔵</a:t>
            </a:r>
            <a:r>
              <a:rPr lang="en-US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 Azul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915749" y="5509910"/>
            <a:ext cx="703064" cy="21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Marinha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01" y="207405"/>
            <a:ext cx="6758224" cy="454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O DNA como Pendrive: Guardando dados em moléculas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138905" y="2693045"/>
            <a:ext cx="1906738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Como funciona?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38905" y="3060278"/>
            <a:ext cx="1906738" cy="5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Os dígitos binários </a:t>
            </a:r>
            <a:r>
              <a:rPr lang="en-US" sz="8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0</a:t>
            </a: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 </a:t>
            </a:r>
            <a:r>
              <a:rPr lang="en-US" sz="8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</a:t>
            </a: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são mapeados nas 4 bases químicas do DNA: </a:t>
            </a:r>
            <a:r>
              <a:rPr lang="en-US" sz="8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A, C, G e T</a:t>
            </a: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. O resultado é uma densidade de armazenamento molecular espantosa.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01" y="801489"/>
            <a:ext cx="5254891" cy="52550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2085" y="1067492"/>
            <a:ext cx="2923513" cy="19927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5258" y="1426092"/>
            <a:ext cx="2405169" cy="28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Densidade Molecular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01072" y="1905656"/>
            <a:ext cx="2331456" cy="777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Até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215 petabytes por grama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de DNA — onde 1 PB equivale a aproximadamente 1 milhão de GB!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0593" y="1073385"/>
            <a:ext cx="2906374" cy="19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907" y="1419629"/>
            <a:ext cx="2533748" cy="29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Marcos de Laboratório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9326907" y="1903057"/>
            <a:ext cx="2533748" cy="92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Livro de Harvard gravado em DNA (2012) e Sistema Operacional + Filme gravados sem erro (Columbia, 2017)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5345" y="3595265"/>
            <a:ext cx="2923513" cy="19927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62263" y="3695432"/>
            <a:ext cx="2149680" cy="668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Por que não usamos no celular?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862263" y="4384443"/>
            <a:ext cx="2149680" cy="1203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Custo elevado (~US$ 9.000 para apenas 2 MB) e velocidade química lenta — ideal para arquivos seculares, não para uso cotidiano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858715"/>
            <a:ext cx="6296860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100" spc="-6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Computação Quântica e Cibersegurança: O próximo salto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2261078"/>
            <a:ext cx="2950295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10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Bit Clássico vs. Qubit Quântico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233360" y="3236416"/>
            <a:ext cx="2950295" cy="189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bit clássico é determinístico: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0 ou 1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. O qubit quântico opera em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superposição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— como uma moeda girando — e pode assumir ambos os estados simultaneamente, além do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emaranhamento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entre partículas.</a:t>
            </a:r>
            <a:endParaRPr lang="en-US" sz="12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8 bits clássicos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testam 1 de 256 valores por vez.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8 qubits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testam os 256 valores ao mesmo tempo.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86275" y="2261078"/>
            <a:ext cx="295029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10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Marcos e Alertas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8586275" y="2831604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091187" y="2882305"/>
            <a:ext cx="24453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Chip Willow do Google (105 qubits)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091187" y="3549848"/>
            <a:ext cx="2445383" cy="785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Cálculo teste feito em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5 minutos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— levaria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10 septilhões de anos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em supercomputador convencional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86275" y="4613970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091187" y="4664670"/>
            <a:ext cx="2445383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Alerta de Cibersegurança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091187" y="5068193"/>
            <a:ext cx="2445383" cy="785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Máquinas quânticas quebrarão senhas bancárias. Normas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PQC do NIST (2024)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 pesquisas em andamento no Brasil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304"/>
            <a:ext cx="10868745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50" b="1" kern="10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Robótica: Máquinas que percebem e agem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089323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289087"/>
            <a:ext cx="1902017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900" b="1" kern="100" spc="-3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Sensores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289087"/>
            <a:ext cx="1902016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Processamento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4644872"/>
            <a:ext cx="1902016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Decisão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4644872"/>
            <a:ext cx="1902017" cy="31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900" b="1" kern="100" spc="-3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Atuação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06559" y="5333905"/>
            <a:ext cx="2279641" cy="31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Sentidos Artificiais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5430" y="5723241"/>
            <a:ext cx="5197458" cy="672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LIDAR: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Pulsos de laser para mapeamento 3D</a:t>
            </a:r>
            <a:endParaRPr lang="en-US" sz="140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Câmeras Térmicas: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Visão por infravermelho</a:t>
            </a:r>
            <a:endParaRPr lang="en-US" sz="140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Encoders/Giroscópios: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Estabilização e orientação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0128" y="5311102"/>
            <a:ext cx="2279642" cy="31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Aplicações Críticas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99754" y="5668207"/>
            <a:ext cx="5280389" cy="78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Cobots colaborativos: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Robôs com sensores de contato que eliminam gaiolas e trabalham ao lado de operários humanos</a:t>
            </a:r>
            <a:endParaRPr lang="en-US" sz="140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Robô Da Vinci: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Cirurgias de altíssima precisão milimétrica</a:t>
            </a:r>
            <a:endParaRPr lang="en-US" sz="140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Veículos autônomos: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Navegação sem intervenção humana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269" y="276119"/>
            <a:ext cx="6238198" cy="362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Tecnologia Espacial: A infraestrutura invisível da Terra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69" y="824166"/>
            <a:ext cx="5593195" cy="5593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0" y="824166"/>
            <a:ext cx="3054364" cy="853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espaço sustenta o cotidiano: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GPS no celular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, telecomunicações, meteorologia e monitoramento de queimadas dependem de satélites orbitais.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96000" y="1827618"/>
            <a:ext cx="2989277" cy="62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Os Três Andares de Órbita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1949" y="2382961"/>
            <a:ext cx="3725749" cy="79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Telescópio James Webb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no Ponto L2 (1,5 milhão de km) opera com escudo térmico a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-225°C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para observação contínua. O satélite nacional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Amazônia-1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(INPE) monitora o bioma brasileiro.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02035" y="3368546"/>
            <a:ext cx="1163209" cy="729938"/>
          </a:xfrm>
          <a:prstGeom prst="roundRect">
            <a:avLst>
              <a:gd name="adj" fmla="val 7603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616420" y="3646103"/>
            <a:ext cx="134438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46253" y="3435263"/>
            <a:ext cx="2127010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GEO — Geoestacionária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46253" y="3747127"/>
            <a:ext cx="3481174" cy="19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Satélites de clima e TV, fixos em relação à Terra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46253" y="4090692"/>
            <a:ext cx="4487353" cy="6400"/>
          </a:xfrm>
          <a:prstGeom prst="roundRect">
            <a:avLst>
              <a:gd name="adj" fmla="val 49996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102034" y="4252238"/>
            <a:ext cx="2034433" cy="662365"/>
          </a:xfrm>
          <a:prstGeom prst="roundRect">
            <a:avLst>
              <a:gd name="adj" fmla="val 7603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035097" y="4492450"/>
            <a:ext cx="134438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89046" y="4292715"/>
            <a:ext cx="1795587" cy="21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MEO — Órbita Média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89046" y="4556138"/>
            <a:ext cx="2134279" cy="177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Satélites de GPS e navegação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62813" y="4908204"/>
            <a:ext cx="3570793" cy="6400"/>
          </a:xfrm>
          <a:prstGeom prst="roundRect">
            <a:avLst>
              <a:gd name="adj" fmla="val 49996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91949" y="5108303"/>
            <a:ext cx="3381314" cy="805898"/>
          </a:xfrm>
          <a:prstGeom prst="roundRect">
            <a:avLst>
              <a:gd name="adj" fmla="val 7603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715387" y="5432431"/>
            <a:ext cx="134438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35495" y="5203417"/>
            <a:ext cx="1699442" cy="21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LEO — Órbita Baixa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35495" y="5519842"/>
            <a:ext cx="2178886" cy="44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ISS, internet veloz (Starlink) —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16 voltas na Terra por dia!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655"/>
            <a:ext cx="10868745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10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O Oceano Profundo e a Física do Sonar: Enxergar no escuro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19545"/>
            <a:ext cx="5232666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10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Condições do Abismo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591008"/>
            <a:ext cx="523266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fundo oceânico impõe desafios extremos: pressão que sobe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 atm a cada 10 metros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, temperatura entre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0°C e 4°C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, escuridão total e corrosão salina constante.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343420"/>
            <a:ext cx="5232666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10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 Tríade dos Submersíveis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3904" y="2019545"/>
            <a:ext cx="5232666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10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 Conta do Sonar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03904" y="2591008"/>
            <a:ext cx="523266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Como a luz não passa na água, o som viaja a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1.500 m/s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e atua como "olho acústico".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3149997"/>
            <a:ext cx="5232666" cy="1148953"/>
          </a:xfrm>
          <a:prstGeom prst="roundRect">
            <a:avLst>
              <a:gd name="adj" fmla="val 6046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343672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41160" y="3328203"/>
            <a:ext cx="4530116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📐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Fórmula: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Distância = (Velocidade do som × Tempo do eco) ÷ 2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Eco em 4 s → (1.500 × 4) ÷ 2 = </a:t>
            </a: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3.000 metros de profundidade!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3904" y="4468425"/>
            <a:ext cx="523266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Sonar Multifeixe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gera 864 dados por ping em 3D. A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Amazônia Azul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— 5,7 milhões de km² de mar — concentra 85% do petróleo nacional e os cabos de internet do Brasil.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5359102"/>
            <a:ext cx="3526444" cy="925810"/>
          </a:xfrm>
          <a:prstGeom prst="roundRect">
            <a:avLst>
              <a:gd name="adj" fmla="val 750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45819" y="5543451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ROV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5819" y="5899051"/>
            <a:ext cx="31577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Cabo + piloto remoto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2576" y="5359102"/>
            <a:ext cx="3526444" cy="925810"/>
          </a:xfrm>
          <a:prstGeom prst="roundRect">
            <a:avLst>
              <a:gd name="adj" fmla="val 750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516920" y="5543451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AUV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16920" y="5899051"/>
            <a:ext cx="31577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Viaja sozinho, programado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03677" y="5359102"/>
            <a:ext cx="3526444" cy="925810"/>
          </a:xfrm>
          <a:prstGeom prst="roundRect">
            <a:avLst>
              <a:gd name="adj" fmla="val 750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188021" y="5543451"/>
            <a:ext cx="315775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HOV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88021" y="5899051"/>
            <a:ext cx="31577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Leva tripulação humana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284459"/>
            <a:ext cx="74420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kern="100" spc="-4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Síntese e Futuro: A tecnologia com responsabilidade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7470" y="1061982"/>
            <a:ext cx="9049792" cy="43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Vivemos a </a:t>
            </a: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era da convergência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: robôs submarinos coletam amostras,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satélites monitoram biomas e IA processa megadados em tempo real. Mas o avanço exige perguntas críticas: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1575" y="2075119"/>
            <a:ext cx="3616532" cy="832188"/>
          </a:xfrm>
          <a:prstGeom prst="roundRect">
            <a:avLst>
              <a:gd name="adj" fmla="val 9834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41" y="1940777"/>
            <a:ext cx="268678" cy="26868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768" y="2741927"/>
            <a:ext cx="268678" cy="268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109" y="2428854"/>
            <a:ext cx="3193871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Quem se beneficia das novas tecnologias?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287734" y="2070347"/>
            <a:ext cx="3616532" cy="832188"/>
          </a:xfrm>
          <a:prstGeom prst="roundRect">
            <a:avLst>
              <a:gd name="adj" fmla="val 9834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924" y="1936005"/>
            <a:ext cx="268678" cy="26868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927" y="2758850"/>
            <a:ext cx="268678" cy="2686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83142" y="2430173"/>
            <a:ext cx="3193871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Quais riscos são gerados e para quem?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8103893" y="2063065"/>
            <a:ext cx="3616532" cy="830549"/>
          </a:xfrm>
          <a:prstGeom prst="roundRect">
            <a:avLst>
              <a:gd name="adj" fmla="val 9834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554" y="1925729"/>
            <a:ext cx="268678" cy="26868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6086" y="2741927"/>
            <a:ext cx="268678" cy="2686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526554" y="2422901"/>
            <a:ext cx="3193871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Como monitorar e auditar os impactos?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5029737" y="3167443"/>
            <a:ext cx="213252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Os 5 Pilares Éticos</a:t>
            </a:r>
            <a:endParaRPr lang="en-US" sz="1850" dirty="0"/>
          </a:p>
        </p:txBody>
      </p:sp>
      <p:sp>
        <p:nvSpPr>
          <p:cNvPr id="17" name="Shape 9"/>
          <p:cNvSpPr/>
          <p:nvPr/>
        </p:nvSpPr>
        <p:spPr>
          <a:xfrm>
            <a:off x="8432629" y="3686842"/>
            <a:ext cx="581059" cy="848122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4558" y="4042791"/>
            <a:ext cx="177200" cy="17720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90660" y="4018108"/>
            <a:ext cx="1442998" cy="24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Inovação Real</a:t>
            </a:r>
            <a:endParaRPr lang="en-US" sz="1600" dirty="0"/>
          </a:p>
        </p:txBody>
      </p:sp>
      <p:sp>
        <p:nvSpPr>
          <p:cNvPr id="20" name="Shape 11"/>
          <p:cNvSpPr/>
          <p:nvPr/>
        </p:nvSpPr>
        <p:spPr>
          <a:xfrm>
            <a:off x="4636963" y="3702820"/>
            <a:ext cx="581060" cy="848122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8893" y="4042791"/>
            <a:ext cx="177200" cy="17720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92816" y="3987387"/>
            <a:ext cx="2015648" cy="24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Segurança Fail-Safe</a:t>
            </a:r>
            <a:endParaRPr lang="en-US" sz="1600" dirty="0"/>
          </a:p>
        </p:txBody>
      </p:sp>
      <p:sp>
        <p:nvSpPr>
          <p:cNvPr id="23" name="Shape 13"/>
          <p:cNvSpPr/>
          <p:nvPr/>
        </p:nvSpPr>
        <p:spPr>
          <a:xfrm>
            <a:off x="2738116" y="5349999"/>
            <a:ext cx="578729" cy="832188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8880" y="5677490"/>
            <a:ext cx="177200" cy="17720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517609" y="5631750"/>
            <a:ext cx="1673927" cy="268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Sustentabilidade</a:t>
            </a:r>
            <a:endParaRPr lang="en-US" sz="1600" dirty="0"/>
          </a:p>
        </p:txBody>
      </p:sp>
      <p:sp>
        <p:nvSpPr>
          <p:cNvPr id="26" name="Shape 15"/>
          <p:cNvSpPr/>
          <p:nvPr/>
        </p:nvSpPr>
        <p:spPr>
          <a:xfrm>
            <a:off x="6872897" y="5333356"/>
            <a:ext cx="578729" cy="832188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3662" y="5677490"/>
            <a:ext cx="177200" cy="17720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652391" y="5644681"/>
            <a:ext cx="1921313" cy="24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Acessibilidade SUS</a:t>
            </a:r>
            <a:endParaRPr lang="en-US" sz="1600" dirty="0"/>
          </a:p>
        </p:txBody>
      </p:sp>
      <p:sp>
        <p:nvSpPr>
          <p:cNvPr id="29" name="Shape 17"/>
          <p:cNvSpPr/>
          <p:nvPr/>
        </p:nvSpPr>
        <p:spPr>
          <a:xfrm>
            <a:off x="1211809" y="3702820"/>
            <a:ext cx="581060" cy="850246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3739" y="4036817"/>
            <a:ext cx="177200" cy="17720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967662" y="4001080"/>
            <a:ext cx="2119639" cy="255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Privacidade de Dados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474" y="241400"/>
            <a:ext cx="6524958" cy="73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kern="100" spc="-4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Considerações Finais: Escrevendo nosso próprio futuro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3" y="1309433"/>
            <a:ext cx="4683361" cy="4683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6567" y="1144326"/>
            <a:ext cx="2327217" cy="32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100" spc="-3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 Tríade da Evolução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68480" y="1571023"/>
            <a:ext cx="2842567" cy="108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"A evolução da tecnologia está diretamente relacionada à capacidade do ser humano de entender suas capacidades e limitações..."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06567" y="1605431"/>
            <a:ext cx="15180" cy="941884"/>
          </a:xfrm>
          <a:prstGeom prst="roundRect">
            <a:avLst>
              <a:gd name="adj" fmla="val 50000"/>
            </a:avLst>
          </a:prstGeom>
          <a:solidFill>
            <a:srgbClr val="629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823403" y="1644684"/>
            <a:ext cx="2842567" cy="9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"No final das contas, a tecnologia é uma constante linha do tempo, que continua sendo escrita por nós até hoje."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59635" y="1605431"/>
            <a:ext cx="15180" cy="794345"/>
          </a:xfrm>
          <a:prstGeom prst="roundRect">
            <a:avLst>
              <a:gd name="adj" fmla="val 50000"/>
            </a:avLst>
          </a:prstGeom>
          <a:solidFill>
            <a:srgbClr val="629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429334" y="4868978"/>
            <a:ext cx="2842567" cy="9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Agradecimentos à coordenação e a todos os presentes!</a:t>
            </a:r>
            <a:endParaRPr lang="en-US" sz="1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Autores: Júlia Cruz e Thomas Anderson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14157" y="3682570"/>
            <a:ext cx="255283" cy="25529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876760" y="3699454"/>
            <a:ext cx="1711778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Conhecimento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76760" y="3937860"/>
            <a:ext cx="2004068" cy="67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Aprender com o passado e com as civilizações que nos precederam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21747" y="4648199"/>
            <a:ext cx="255283" cy="25529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876760" y="4684530"/>
            <a:ext cx="1711778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Imaginação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77816" y="4973902"/>
            <a:ext cx="1853558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Projetar o que ainda não existe e ousar criar o impossível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01693" y="3680487"/>
            <a:ext cx="255283" cy="25529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59635" y="3673409"/>
            <a:ext cx="1711778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Responsabilidade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68391" y="3954605"/>
            <a:ext cx="1870034" cy="595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Garantir que o progresso seja coletivo, justo e sustentável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1037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Geist Bold</vt:lpstr>
      <vt:lpstr>Nirmala UI</vt:lpstr>
      <vt:lpstr>Geist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GUILHERME SOUSA</cp:lastModifiedBy>
  <cp:revision>7</cp:revision>
  <dcterms:created xsi:type="dcterms:W3CDTF">2026-10-26T04:06:59Z</dcterms:created>
  <dcterms:modified xsi:type="dcterms:W3CDTF">2026-10-30T06:44:48Z</dcterms:modified>
</cp:coreProperties>
</file>